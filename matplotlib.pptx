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aleway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zKbYPNKFiLibzPl0tLmraPCui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alewayLight-bold.fntdata"/><Relationship Id="rId23" Type="http://schemas.openxmlformats.org/officeDocument/2006/relationships/font" Target="fonts/Raleway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Light-boldItalic.fntdata"/><Relationship Id="rId25" Type="http://schemas.openxmlformats.org/officeDocument/2006/relationships/font" Target="fonts/RalewayLight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6987" y="92943"/>
            <a:ext cx="3305026" cy="495753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/>
          <p:nvPr/>
        </p:nvSpPr>
        <p:spPr>
          <a:xfrm>
            <a:off x="496119" y="1540297"/>
            <a:ext cx="2581945" cy="620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Visualização de Dados</a:t>
            </a:r>
            <a:endParaRPr b="0" i="0" sz="1950" u="none" cap="none" strike="noStrike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 Matplotlib</a:t>
            </a:r>
            <a:endParaRPr b="0" i="0" sz="1950" u="none" cap="none" strike="noStrike"/>
          </a:p>
        </p:txBody>
      </p:sp>
      <p:sp>
        <p:nvSpPr>
          <p:cNvPr id="59" name="Google Shape;59;p1"/>
          <p:cNvSpPr/>
          <p:nvPr/>
        </p:nvSpPr>
        <p:spPr>
          <a:xfrm>
            <a:off x="496119" y="2346499"/>
            <a:ext cx="4722763" cy="87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Como transformar dados brutos de mercado</a:t>
            </a:r>
            <a:endParaRPr b="0" i="0" sz="95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105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em insights visuais poderosos</a:t>
            </a:r>
            <a:endParaRPr b="0" i="0" sz="95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105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usando Python, Matplotlib e a API da Binance.</a:t>
            </a:r>
            <a:endParaRPr b="0" i="0" sz="950" u="none" cap="none" strike="noStrike"/>
          </a:p>
        </p:txBody>
      </p:sp>
      <p:sp>
        <p:nvSpPr>
          <p:cNvPr id="60" name="Google Shape;60;p1"/>
          <p:cNvSpPr/>
          <p:nvPr/>
        </p:nvSpPr>
        <p:spPr>
          <a:xfrm>
            <a:off x="496119" y="3365227"/>
            <a:ext cx="540767" cy="233214"/>
          </a:xfrm>
          <a:prstGeom prst="roundRect">
            <a:avLst>
              <a:gd fmla="val 17872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570533" y="3402434"/>
            <a:ext cx="849139" cy="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b="0" i="0" sz="750" u="none" cap="none" strike="noStrike"/>
          </a:p>
        </p:txBody>
      </p:sp>
      <p:sp>
        <p:nvSpPr>
          <p:cNvPr id="62" name="Google Shape;62;p1"/>
          <p:cNvSpPr/>
          <p:nvPr/>
        </p:nvSpPr>
        <p:spPr>
          <a:xfrm>
            <a:off x="1098872" y="3360465"/>
            <a:ext cx="744662" cy="242739"/>
          </a:xfrm>
          <a:prstGeom prst="roundRect">
            <a:avLst>
              <a:gd fmla="val 17171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1178049" y="3402434"/>
            <a:ext cx="1043508" cy="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b="0" i="0" sz="750" u="none" cap="none" strike="noStrike"/>
          </a:p>
        </p:txBody>
      </p:sp>
      <p:sp>
        <p:nvSpPr>
          <p:cNvPr id="64" name="Google Shape;64;p1"/>
          <p:cNvSpPr/>
          <p:nvPr/>
        </p:nvSpPr>
        <p:spPr>
          <a:xfrm>
            <a:off x="1905521" y="3360465"/>
            <a:ext cx="575221" cy="242739"/>
          </a:xfrm>
          <a:prstGeom prst="roundRect">
            <a:avLst>
              <a:gd fmla="val 17171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1984697" y="3402434"/>
            <a:ext cx="874068" cy="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BINANCE</a:t>
            </a:r>
            <a:endParaRPr b="0" i="0" sz="750" u="none" cap="none" strike="noStrike"/>
          </a:p>
        </p:txBody>
      </p:sp>
      <p:sp>
        <p:nvSpPr>
          <p:cNvPr id="66" name="Google Shape;66;p1"/>
          <p:cNvSpPr/>
          <p:nvPr/>
        </p:nvSpPr>
        <p:spPr>
          <a:xfrm>
            <a:off x="2542729" y="3360465"/>
            <a:ext cx="1129085" cy="242739"/>
          </a:xfrm>
          <a:prstGeom prst="roundRect">
            <a:avLst>
              <a:gd fmla="val 17171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2621905" y="3402434"/>
            <a:ext cx="1427931" cy="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DADOS FINANCEIROS</a:t>
            </a:r>
            <a:endParaRPr b="0" i="0" sz="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/>
          <p:nvPr/>
        </p:nvSpPr>
        <p:spPr>
          <a:xfrm>
            <a:off x="496125" y="813175"/>
            <a:ext cx="47700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2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Tarsis Lima</a:t>
            </a:r>
            <a:r>
              <a:rPr b="0" i="0" lang="en-US" sz="2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(@tarsislimadev)</a:t>
            </a:r>
            <a:endParaRPr b="0" i="0" sz="20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lang="en-US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0" i="0" lang="en-US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ntusiasta de dados e desenvolvedor apaixonado</a:t>
            </a:r>
            <a:endParaRPr b="0" i="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Experiência em Java</a:t>
            </a:r>
            <a:r>
              <a:rPr lang="en-US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 Node.js</a:t>
            </a:r>
            <a:endParaRPr b="0" i="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Aprendendo Python, finanças e visualização de dados</a:t>
            </a:r>
            <a:endParaRPr b="0" i="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Interesse em mercado financeiro</a:t>
            </a:r>
            <a:r>
              <a:rPr lang="en-US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trading algorítmico</a:t>
            </a:r>
            <a:endParaRPr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2" title="me.jpg"/>
          <p:cNvPicPr preferRelativeResize="0"/>
          <p:nvPr/>
        </p:nvPicPr>
        <p:blipFill rotWithShape="1">
          <a:blip r:embed="rId3">
            <a:alphaModFix/>
          </a:blip>
          <a:srcRect b="8452" l="0" r="0" t="8443"/>
          <a:stretch/>
        </p:blipFill>
        <p:spPr>
          <a:xfrm>
            <a:off x="4930050" y="820737"/>
            <a:ext cx="4213950" cy="35020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496125" y="4087950"/>
            <a:ext cx="29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https://github.com/tarsislimadev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496125" y="4508400"/>
            <a:ext cx="38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https://www.linkedin.com/in/tarsislimadev/</a:t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496125" y="3667500"/>
            <a:ext cx="29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https://x.com/tarsislimadev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496119" y="1217191"/>
            <a:ext cx="5822305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 Desafio: De Dados Brutos a Insights</a:t>
            </a:r>
            <a:endParaRPr b="0" i="0" sz="240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496119" y="1852761"/>
            <a:ext cx="815176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mercado financeiro gera volumes massivos de dados a cada segundo — preços, volumes, ordens e indicadores se acumulam em fluxos contínuos que são impossíveis de interpretar no formato numérico bruto. Números isolados, sem contexto visual, tornam a tomada de decisão lenta e propensa a erros.</a:t>
            </a:r>
            <a:endParaRPr b="0" i="0" sz="95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524842" y="2725936"/>
            <a:ext cx="155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Volume Massivo</a:t>
            </a:r>
            <a:endParaRPr b="0" i="0" sz="120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524842" y="2994199"/>
            <a:ext cx="2315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Binance processa milhões de transações por dia, gerando um fluxo contínuo de dados que exige ferramentas adequadas para interpretação.</a:t>
            </a:r>
            <a:endParaRPr b="0" i="0" sz="95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3283372" y="2725936"/>
            <a:ext cx="1789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Complexidade Numérica</a:t>
            </a:r>
            <a:endParaRPr b="0" i="0" sz="120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3283372" y="2994199"/>
            <a:ext cx="2315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Tabelas com milhares de linhas de preços e volumes são pouco intuitivas — o cérebro humano processa padrões visuais com muito mais eficiência.</a:t>
            </a:r>
            <a:endParaRPr b="0" i="0" sz="95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6041975" y="2725936"/>
            <a:ext cx="1795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Matplotlib como Solução</a:t>
            </a:r>
            <a:endParaRPr b="0" i="0" sz="120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6041975" y="2994199"/>
            <a:ext cx="2315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biblioteca transforma essa complexidade em clareza, permitindo criar gráficos que revelam tendências, padrões e anomalias em segundos.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496119" y="820638"/>
            <a:ext cx="3558332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 que é Matplotlib?</a:t>
            </a:r>
            <a:endParaRPr b="0" i="0" sz="240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406822" y="1394222"/>
            <a:ext cx="4103191" cy="2928640"/>
          </a:xfrm>
          <a:prstGeom prst="roundRect">
            <a:avLst>
              <a:gd fmla="val 3050" name="adj"/>
            </a:avLst>
          </a:prstGeom>
          <a:solidFill>
            <a:srgbClr val="1B1B27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30796" y="1518196"/>
            <a:ext cx="20077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Definição</a:t>
            </a:r>
            <a:endParaRPr b="0" i="0" sz="120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530796" y="1836018"/>
            <a:ext cx="3855244" cy="130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Matplotlib é a biblioteca de visualização de dados mais consolidada do ecossistema Python. Criada em 2003 por John Hunter, tornou-se o padrão da indústria para geração de gráficos em ciência de dados, engenharia e finanças.</a:t>
            </a:r>
            <a:endParaRPr b="0" i="0" sz="95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É mantida ativamente pela comunidade open-source e serve como base para bibliotecas mais modernas como Seaborn e Plotly.</a:t>
            </a:r>
            <a:endParaRPr b="0" i="0" sz="95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4728046" y="1518196"/>
            <a:ext cx="222862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Principais Características</a:t>
            </a:r>
            <a:endParaRPr b="0" i="0" sz="1200" u="none" cap="none" strike="noStrike"/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4555" y="185767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5131073" y="1851571"/>
            <a:ext cx="3521571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Gráficos Estáticos: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Geração de imagens em alta resolução para relatórios e publicações.</a:t>
            </a:r>
            <a:endParaRPr b="0" i="0" sz="950" u="none" cap="none" strike="noStrike"/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4555" y="250261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5131073" y="2496517"/>
            <a:ext cx="3521571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Animações: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Atualização dinâmica de gráficos em tempo real, ideal para dashboards ao vivo.</a:t>
            </a:r>
            <a:endParaRPr b="0" i="0" sz="950" u="none" cap="none" strike="noStrike"/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4555" y="3147566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5131073" y="3141464"/>
            <a:ext cx="3521571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Estrutura Fig/Axes: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Controle granular sobre cada elemento visual — cores, fontes, escalas e layouts.</a:t>
            </a:r>
            <a:endParaRPr b="0" i="0" sz="950" u="none" cap="none" strike="noStrike"/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4555" y="379251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5131073" y="3786411"/>
            <a:ext cx="3521571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Multiplataforma: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Funciona em Jupyter, scripts .py, interfaces Tkinter e servidores web.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598066" y="329505"/>
            <a:ext cx="5562526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Exemplo Prático: Plotando Séries Temporais</a:t>
            </a:r>
            <a:endParaRPr b="0" i="0" sz="19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598066" y="808137"/>
            <a:ext cx="8404994" cy="1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fluxo básico de trabalho com Matplotlib segue quatro passos essenciais. Veja como criar seu primeiro gráfico de série temporal:</a:t>
            </a:r>
            <a:endParaRPr b="0" i="0" sz="75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598066" y="1128192"/>
            <a:ext cx="1717030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Código Base</a:t>
            </a:r>
            <a:endParaRPr b="0" i="0" sz="95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598066" y="1377776"/>
            <a:ext cx="3850928" cy="3123009"/>
          </a:xfrm>
          <a:prstGeom prst="roundRect">
            <a:avLst>
              <a:gd fmla="val 135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93080" y="1377776"/>
            <a:ext cx="3860899" cy="3123009"/>
          </a:xfrm>
          <a:prstGeom prst="roundRect">
            <a:avLst>
              <a:gd fmla="val 48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19063" y="1478533"/>
            <a:ext cx="3608933" cy="2921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r>
              <a:t/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Dados de exemplo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dias = np.arange(1, 11)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precos = [100, 102, 98, 105, 107, 103, 110, 112, 108, 115]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r>
              <a:t/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Criar figura e eixos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fig, ax = plt.subplots(figsize=(10, 6))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r>
              <a:t/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Plotar série temporal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ax.plot(dias, precos, marker='o', linewidth=2)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r>
              <a:t/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Customizar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ax.set_title('Evolução de Preço')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ax.set_xlabel('Dia')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ax.set_ylabel('Preço (USD)')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ax.grid(True, alpha=0.3)</a:t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r>
              <a:t/>
            </a:r>
            <a:endParaRPr b="0" i="0" sz="750" u="none" cap="none" strike="noStrike"/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b="0" i="0" sz="750" u="none" cap="none" strike="noStrike"/>
          </a:p>
        </p:txBody>
      </p:sp>
      <p:sp>
        <p:nvSpPr>
          <p:cNvPr id="120" name="Google Shape;120;p5"/>
          <p:cNvSpPr/>
          <p:nvPr/>
        </p:nvSpPr>
        <p:spPr>
          <a:xfrm>
            <a:off x="4699620" y="1128192"/>
            <a:ext cx="187218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Entendendo Cada Etapa</a:t>
            </a:r>
            <a:endParaRPr b="0" i="0" sz="95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4699620" y="1377776"/>
            <a:ext cx="201513" cy="125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aleway Light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  <a:endParaRPr b="0" i="0" sz="75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4699620" y="1534716"/>
            <a:ext cx="3850928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699620" y="1613669"/>
            <a:ext cx="1259830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Importação</a:t>
            </a:r>
            <a:endParaRPr b="0" i="0" sz="95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4699620" y="1852985"/>
            <a:ext cx="3850928" cy="296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importa o módulo principal com o alias padrão da comunidade.</a:t>
            </a:r>
            <a:endParaRPr b="0" i="0" sz="75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4699620" y="2307282"/>
            <a:ext cx="201513" cy="125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aleway Light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  <a:endParaRPr b="0" i="0" sz="75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4699620" y="2464222"/>
            <a:ext cx="3850928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699620" y="2543175"/>
            <a:ext cx="1259830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Configuração</a:t>
            </a:r>
            <a:endParaRPr b="0" i="0" sz="95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4699620" y="2782491"/>
            <a:ext cx="3850928" cy="1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fig, ax = plt.subplots()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cria a figura e os eixos simultaneamente, pronto para plotar.</a:t>
            </a:r>
            <a:endParaRPr b="0" i="0" sz="7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4699620" y="3090714"/>
            <a:ext cx="201513" cy="125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aleway Light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  <a:endParaRPr b="0" i="0" sz="75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4699620" y="3247653"/>
            <a:ext cx="3850928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4699620" y="3326606"/>
            <a:ext cx="1259830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Plotagem</a:t>
            </a:r>
            <a:endParaRPr b="0" i="0" sz="95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4699620" y="3565922"/>
            <a:ext cx="3850928" cy="296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ax.plot(x, y)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desenha a linha conectando os pontos. Aceita marcadores, cores e estilos.</a:t>
            </a:r>
            <a:endParaRPr b="0" i="0" sz="75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4699620" y="4020220"/>
            <a:ext cx="201513" cy="125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aleway Light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04</a:t>
            </a:r>
            <a:endParaRPr b="0" i="0" sz="75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4699620" y="4177159"/>
            <a:ext cx="3850928" cy="14288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699620" y="4256112"/>
            <a:ext cx="1259830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Exibição</a:t>
            </a:r>
            <a:endParaRPr b="0" i="0" sz="95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4699620" y="4495428"/>
            <a:ext cx="3850928" cy="1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plt.show()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renderiza e exibe a janela com o gráfico finalizado.</a:t>
            </a:r>
            <a:endParaRPr b="0" i="0" sz="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496119" y="613321"/>
            <a:ext cx="6087442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Integração: Conectando com a Binance</a:t>
            </a:r>
            <a:endParaRPr b="0" i="0" sz="240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496119" y="1248891"/>
            <a:ext cx="8151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Para visualizar dados reais do mercado de criptomoedas, o projeto se conecta à Binance usando dois protocolos complementares que garantem tanto o contexto histórico quanto a atualização em tempo real.</a:t>
            </a:r>
            <a:endParaRPr b="0" i="0" sz="950" u="none" cap="none" strike="noStrike"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85342"/>
            <a:ext cx="1516038" cy="93694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496119" y="2877294"/>
            <a:ext cx="195031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REST API — Histórico Inicial</a:t>
            </a:r>
            <a:endParaRPr b="0" i="0" sz="12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496119" y="3145557"/>
            <a:ext cx="2613868" cy="1190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API REST da Binance fornece dados de velas (kline) históricos. O projeto faz uma requisição inicial para capturar o passado recente — os últimos 500 (quinhentos) candles — criando o contexto necessário antes de iniciar a visualização ao vivo.</a:t>
            </a:r>
            <a:endParaRPr b="0" i="0" sz="950" u="none" cap="none" strike="noStrike"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785342"/>
            <a:ext cx="1516038" cy="9369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3264991" y="2877294"/>
            <a:ext cx="2613943" cy="387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WebSocket — Dados em Tempo Real</a:t>
            </a:r>
            <a:endParaRPr b="0" i="0" sz="12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3264991" y="3339405"/>
            <a:ext cx="2613943" cy="1190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Após carregar o histórico, o projeto se conecta ao stream WebSocket da Binance. Esse canal mantém uma conexão persistente que empurra novos candles segundo a segundo, sem necessidade de web polling, garantindo latência mínima.</a:t>
            </a:r>
            <a:endParaRPr b="0" i="0" sz="950" u="none" cap="none" strike="noStrike"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785342"/>
            <a:ext cx="1516038" cy="93694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6033939" y="2877294"/>
            <a:ext cx="181309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Dados Kline (Candlestick)</a:t>
            </a:r>
            <a:endParaRPr b="0" i="0" sz="12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6033939" y="3145557"/>
            <a:ext cx="2613943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Cada candle contém: preço de abertura, máxima, mínima, fechamento, e volume. Esses cinco valores são a base para construir gráficos de velas japonesas, indicadores técnicos e análises de tendência.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449610" y="343421"/>
            <a:ext cx="4564410" cy="351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Visualização Dinâmica em Ação</a:t>
            </a:r>
            <a:endParaRPr b="0" i="0" sz="220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449610" y="949375"/>
            <a:ext cx="2192610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Como Funciona o Live Plot</a:t>
            </a:r>
            <a:endParaRPr b="0" i="0" sz="110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449610" y="1226865"/>
            <a:ext cx="441119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core do projeto é o loop de atualização dinâmica. A cada novo candle recebido via WebSocket, o Matplotlib redesenha o gráfico sem fechar a janela, criando a sensação de um terminal de trading profissional.</a:t>
            </a:r>
            <a:endParaRPr b="0" i="0" sz="85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466725" y="1982465"/>
            <a:ext cx="1405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Atualização Contínua</a:t>
            </a:r>
            <a:endParaRPr b="0" i="0" sz="110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466725" y="2259955"/>
            <a:ext cx="411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 gráfico é redesenhado com </a:t>
            </a:r>
            <a:r>
              <a:rPr b="0" i="0" lang="en-US" sz="8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plt.pause()</a:t>
            </a: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b="0" i="0" lang="en-US" sz="8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FuncAnimation</a:t>
            </a: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mantendo a janela responsiva enquanto novos dados chegam.</a:t>
            </a:r>
            <a:endParaRPr b="0" i="0" sz="85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466725" y="2962796"/>
            <a:ext cx="1405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Múltiplos Eixos</a:t>
            </a:r>
            <a:endParaRPr b="0" i="0" sz="11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466725" y="3240286"/>
            <a:ext cx="41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Preço e volume são plotados em eixos Y separados (secundário), permitindo comparar as duas dimensões sem distorção de escala.</a:t>
            </a:r>
            <a:endParaRPr b="0" i="0" sz="850" u="none" cap="none" strike="noStrike"/>
          </a:p>
        </p:txBody>
      </p:sp>
      <p:sp>
        <p:nvSpPr>
          <p:cNvPr id="165" name="Google Shape;165;p7"/>
          <p:cNvSpPr/>
          <p:nvPr/>
        </p:nvSpPr>
        <p:spPr>
          <a:xfrm>
            <a:off x="466725" y="3938364"/>
            <a:ext cx="1405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Estilo de Candles</a:t>
            </a:r>
            <a:endParaRPr b="0" i="0" sz="110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466725" y="4215854"/>
            <a:ext cx="41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Candles de alta </a:t>
            </a:r>
            <a:r>
              <a:rPr b="1" i="0" lang="en-US" sz="850" u="none" cap="none" strike="noStrike">
                <a:solidFill>
                  <a:srgbClr val="5CC97B"/>
                </a:solidFill>
                <a:latin typeface="Roboto"/>
                <a:ea typeface="Roboto"/>
                <a:cs typeface="Roboto"/>
                <a:sym typeface="Roboto"/>
              </a:rPr>
              <a:t>em verde</a:t>
            </a: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 de baixa </a:t>
            </a:r>
            <a:r>
              <a:rPr b="1" i="0" lang="en-US" sz="850" u="none" cap="none" strike="noStrike">
                <a:solidFill>
                  <a:srgbClr val="F44444"/>
                </a:solidFill>
                <a:latin typeface="Roboto"/>
                <a:ea typeface="Roboto"/>
                <a:cs typeface="Roboto"/>
                <a:sym typeface="Roboto"/>
              </a:rPr>
              <a:t>em vermelho</a:t>
            </a: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convenção universal do mercado financeiro, facilmente customizável no Matplotlib.</a:t>
            </a:r>
            <a:endParaRPr b="0" i="0" sz="850" u="none" cap="none" strike="noStrike"/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9854" y="962099"/>
            <a:ext cx="3559225" cy="35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117" y="87139"/>
            <a:ext cx="3312765" cy="496914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465162" y="355625"/>
            <a:ext cx="3364483" cy="363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50"/>
              <a:buFont typeface="Raleway"/>
              <a:buNone/>
            </a:pPr>
            <a:r>
              <a:rPr b="0" i="0" lang="en-US" sz="2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Por que Matplotlib?</a:t>
            </a:r>
            <a:endParaRPr b="0" i="0" sz="225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465162" y="882476"/>
            <a:ext cx="4784675" cy="1029742"/>
          </a:xfrm>
          <a:prstGeom prst="roundRect">
            <a:avLst>
              <a:gd fmla="val 474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586160" y="1003474"/>
            <a:ext cx="1453604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Flexibilidade Total</a:t>
            </a:r>
            <a:endParaRPr b="0" i="0" sz="11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586160" y="1250528"/>
            <a:ext cx="4542681" cy="540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Controle absoluto sobre cada pixel do gráfico — de fontes a grades, de cores a anotações. Ideal para gráficos de qualidade de publicação acadêmica ou relatórios profissionais.</a:t>
            </a:r>
            <a:endParaRPr b="0" i="0" sz="90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465162" y="2021235"/>
            <a:ext cx="4784675" cy="849511"/>
          </a:xfrm>
          <a:prstGeom prst="roundRect">
            <a:avLst>
              <a:gd fmla="val 575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86160" y="2142232"/>
            <a:ext cx="1744117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Suporte Nativo ao Jupyter</a:t>
            </a:r>
            <a:endParaRPr b="0" i="0" sz="110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586160" y="2389287"/>
            <a:ext cx="4542681" cy="3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Integração perfeita com Jupyter Notebooks e JupyterLab, permitindo visualização inline durante a exploração de dados e análise interativa.</a:t>
            </a:r>
            <a:endParaRPr b="0" i="0" sz="90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465162" y="2979762"/>
            <a:ext cx="4784675" cy="849511"/>
          </a:xfrm>
          <a:prstGeom prst="roundRect">
            <a:avLst>
              <a:gd fmla="val 575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586160" y="3100760"/>
            <a:ext cx="1453604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Ecossistema Rico</a:t>
            </a:r>
            <a:endParaRPr b="0" i="0" sz="110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586160" y="3347814"/>
            <a:ext cx="4542681" cy="3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Compatível com Python NumPy, Pandas, Scikit-learn e outras ferramentas de análise. Funciona como base para Seaborn, Plotly e bibliotecas de alto nível.</a:t>
            </a:r>
            <a:endParaRPr b="0" i="0" sz="90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465162" y="3938290"/>
            <a:ext cx="4784675" cy="849511"/>
          </a:xfrm>
          <a:prstGeom prst="roundRect">
            <a:avLst>
              <a:gd fmla="val 575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86160" y="4059287"/>
            <a:ext cx="1453604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Comunidade Ativa</a:t>
            </a:r>
            <a:endParaRPr b="0" i="0" sz="110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586160" y="4306342"/>
            <a:ext cx="4542681" cy="3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Documentação extensa, milhares de exemplos no Stack Overflow e uma comunidade global que mantém a biblioteca atualizada e segura.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480640" y="369391"/>
            <a:ext cx="5286896" cy="37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350"/>
              <a:buFont typeface="Raleway"/>
              <a:buNone/>
            </a:pPr>
            <a:r>
              <a:rPr b="0" i="0" lang="en-US" sz="2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Dicas para uma Visualização Eficaz</a:t>
            </a:r>
            <a:endParaRPr b="0" i="0" sz="2350" u="none" cap="none" strike="noStrike"/>
          </a:p>
        </p:txBody>
      </p:sp>
      <p:sp>
        <p:nvSpPr>
          <p:cNvPr id="194" name="Google Shape;194;p9"/>
          <p:cNvSpPr/>
          <p:nvPr/>
        </p:nvSpPr>
        <p:spPr>
          <a:xfrm>
            <a:off x="480640" y="977652"/>
            <a:ext cx="8182719" cy="37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Um gráfico bem construído comunica mais em segundos do que uma tabela em minutos. Aplique estas boas práticas para elevar a qualidade das suas visualizações financeiras.</a:t>
            </a:r>
            <a:endParaRPr b="0" i="0" sz="900" u="none" cap="none" strike="noStrike"/>
          </a:p>
        </p:txBody>
      </p:sp>
      <p:sp>
        <p:nvSpPr>
          <p:cNvPr id="195" name="Google Shape;195;p9"/>
          <p:cNvSpPr/>
          <p:nvPr/>
        </p:nvSpPr>
        <p:spPr>
          <a:xfrm>
            <a:off x="480640" y="1617911"/>
            <a:ext cx="270346" cy="270346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661" y="1662894"/>
            <a:ext cx="180231" cy="18023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867370" y="1659210"/>
            <a:ext cx="2070869" cy="1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Histogramas para Volatilidade</a:t>
            </a:r>
            <a:endParaRPr b="0" i="0" sz="1150" u="none" cap="none" strike="noStrike"/>
          </a:p>
        </p:txBody>
      </p:sp>
      <p:sp>
        <p:nvSpPr>
          <p:cNvPr id="198" name="Google Shape;198;p9"/>
          <p:cNvSpPr/>
          <p:nvPr/>
        </p:nvSpPr>
        <p:spPr>
          <a:xfrm>
            <a:off x="867370" y="1963341"/>
            <a:ext cx="3558034" cy="57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b="0" i="0" lang="en-US" sz="9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ax.hist()</a:t>
            </a: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para visualizar a distribuição de retornos ou variações de preço. Histogramas revelam padrões de volatilidade que gráficos de linha escondem.</a:t>
            </a:r>
            <a:endParaRPr b="0" i="0" sz="900" u="none" cap="none" strike="noStrike"/>
          </a:p>
        </p:txBody>
      </p:sp>
      <p:sp>
        <p:nvSpPr>
          <p:cNvPr id="199" name="Google Shape;199;p9"/>
          <p:cNvSpPr/>
          <p:nvPr/>
        </p:nvSpPr>
        <p:spPr>
          <a:xfrm>
            <a:off x="480640" y="2768575"/>
            <a:ext cx="270346" cy="270346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661" y="2813558"/>
            <a:ext cx="180231" cy="18023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867370" y="2809875"/>
            <a:ext cx="1539999" cy="1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Figsize Proporcionado</a:t>
            </a:r>
            <a:endParaRPr b="0" i="0" sz="115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867370" y="3114005"/>
            <a:ext cx="3558034" cy="57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Defina </a:t>
            </a:r>
            <a:r>
              <a:rPr b="0" i="0" lang="en-US" sz="9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figsize=(12, 6)</a:t>
            </a: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ou proporções similares para garantir que o gráfico seja legível em diferentes telas e ao ser exportado como imagem.</a:t>
            </a:r>
            <a:endParaRPr b="0" i="0" sz="90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480640" y="3919240"/>
            <a:ext cx="270346" cy="270346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661" y="3964223"/>
            <a:ext cx="180231" cy="18023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867370" y="3960540"/>
            <a:ext cx="1502122" cy="1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Design Limpo</a:t>
            </a:r>
            <a:endParaRPr b="0" i="0" sz="115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867370" y="4264670"/>
            <a:ext cx="3558034" cy="37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Remova elementos desnecessários: grades excessivas, legendas redundantes e cores conflitantes.</a:t>
            </a:r>
            <a:endParaRPr b="0" i="0" sz="900" u="none" cap="none" strike="noStrike"/>
          </a:p>
        </p:txBody>
      </p:sp>
      <p:sp>
        <p:nvSpPr>
          <p:cNvPr id="207" name="Google Shape;207;p9"/>
          <p:cNvSpPr/>
          <p:nvPr/>
        </p:nvSpPr>
        <p:spPr>
          <a:xfrm>
            <a:off x="4723358" y="1617911"/>
            <a:ext cx="3944764" cy="1031081"/>
          </a:xfrm>
          <a:prstGeom prst="roundRect">
            <a:avLst>
              <a:gd fmla="val 4895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3463" y="1796207"/>
            <a:ext cx="150168" cy="12010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5113734" y="1752600"/>
            <a:ext cx="3434283" cy="761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</a:t>
            </a:r>
            <a:r>
              <a:rPr b="1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Dica Pro:</a:t>
            </a: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Use </a:t>
            </a:r>
            <a:r>
              <a:rPr b="0" i="0" lang="en-US" sz="9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ax.set_facecolor('#1B1B27')</a:t>
            </a: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para criar gráficos com tema escuro, reduzindo o cansaço visual em sessões longas de análise. Combine com cores neon para os candles para um visual profissional. </a:t>
            </a:r>
            <a:endParaRPr b="0" i="0" sz="90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4723358" y="2779886"/>
            <a:ext cx="3944764" cy="841846"/>
          </a:xfrm>
          <a:prstGeom prst="roundRect">
            <a:avLst>
              <a:gd fmla="val 5995" name="adj"/>
            </a:avLst>
          </a:prstGeom>
          <a:solidFill>
            <a:srgbClr val="D2D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3463" y="2958182"/>
            <a:ext cx="150168" cy="12010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5113734" y="2914576"/>
            <a:ext cx="3434283" cy="57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📊</a:t>
            </a:r>
            <a:r>
              <a:rPr b="1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Exportação:</a:t>
            </a: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Salve seus gráficos com </a:t>
            </a:r>
            <a:r>
              <a:rPr b="0" i="0" lang="en-US" sz="9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plt.savefig('grafico.png', dpi=300)</a:t>
            </a: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para obter imagens em alta resolução prontas para apresentações e relatórios.</a:t>
            </a:r>
            <a:endParaRPr b="0" i="0" sz="900" u="none" cap="none" strike="noStrike"/>
          </a:p>
        </p:txBody>
      </p:sp>
      <p:sp>
        <p:nvSpPr>
          <p:cNvPr id="213" name="Google Shape;213;p9"/>
          <p:cNvSpPr/>
          <p:nvPr/>
        </p:nvSpPr>
        <p:spPr>
          <a:xfrm>
            <a:off x="4723358" y="3752627"/>
            <a:ext cx="4401964" cy="2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Lembre-se: o protagonista é o dado, não a decoração.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457349" y="326678"/>
            <a:ext cx="7089502" cy="35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50"/>
              <a:buFont typeface="Raleway"/>
              <a:buNone/>
            </a:pPr>
            <a:r>
              <a:rPr b="0" i="0" lang="en-US" sz="2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Próximos Passos: Transforme Dados em Estratégia</a:t>
            </a:r>
            <a:endParaRPr b="0" i="0" sz="225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457349" y="894829"/>
            <a:ext cx="8686502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Você já tem as bases para criar visualizações profissionais. O caminho a seguir é construir sua própria ferramenta de análise de mercado.</a:t>
            </a:r>
            <a:endParaRPr b="0" i="0" sz="900" u="none" cap="none" strike="noStrike"/>
          </a:p>
        </p:txBody>
      </p:sp>
      <p:sp>
        <p:nvSpPr>
          <p:cNvPr id="221" name="Google Shape;221;p10"/>
          <p:cNvSpPr/>
          <p:nvPr/>
        </p:nvSpPr>
        <p:spPr>
          <a:xfrm>
            <a:off x="4564856" y="1189211"/>
            <a:ext cx="14288" cy="2787104"/>
          </a:xfrm>
          <a:prstGeom prst="roundRect">
            <a:avLst>
              <a:gd fmla="val 33615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114614" y="1310655"/>
            <a:ext cx="343049" cy="14288"/>
          </a:xfrm>
          <a:prstGeom prst="roundRect">
            <a:avLst>
              <a:gd fmla="val 33615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443375" y="1189211"/>
            <a:ext cx="257249" cy="257249"/>
          </a:xfrm>
          <a:prstGeom prst="roundRect">
            <a:avLst>
              <a:gd fmla="val 1867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486201" y="1210605"/>
            <a:ext cx="171524" cy="21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135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2331467" y="1228502"/>
            <a:ext cx="1668810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Explore a Documentação</a:t>
            </a:r>
            <a:endParaRPr b="0" i="0" sz="110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457349" y="1470422"/>
            <a:ext cx="3542928" cy="35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Acesse </a:t>
            </a:r>
            <a:r>
              <a:rPr b="1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matplotlib.org</a:t>
            </a: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 explore a galeria de exemplos. Cada gráfico da galeria vem com código fonte completo para estudo e adaptação.</a:t>
            </a:r>
            <a:endParaRPr b="0" i="0" sz="90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4686337" y="1978819"/>
            <a:ext cx="343049" cy="14288"/>
          </a:xfrm>
          <a:prstGeom prst="roundRect">
            <a:avLst>
              <a:gd fmla="val 33615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4443375" y="1857375"/>
            <a:ext cx="257249" cy="257249"/>
          </a:xfrm>
          <a:prstGeom prst="roundRect">
            <a:avLst>
              <a:gd fmla="val 1867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486201" y="1878769"/>
            <a:ext cx="171524" cy="21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135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5143723" y="1896666"/>
            <a:ext cx="1611957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Implemente Indicadores</a:t>
            </a:r>
            <a:endParaRPr b="0" i="0" sz="110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5143723" y="2138586"/>
            <a:ext cx="3542928" cy="532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Adicione médias móveis, RSI, MACD e Bandas de Bollinger sobre os candles. Use </a:t>
            </a:r>
            <a:r>
              <a:rPr b="0" i="0" lang="en-US" sz="9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ax.twinx()</a:t>
            </a: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para sobrepor indicadores em escalas diferentes.</a:t>
            </a:r>
            <a:endParaRPr b="0" i="0" sz="900" u="none" cap="none" strike="noStrike"/>
          </a:p>
        </p:txBody>
      </p:sp>
      <p:sp>
        <p:nvSpPr>
          <p:cNvPr id="232" name="Google Shape;232;p10"/>
          <p:cNvSpPr/>
          <p:nvPr/>
        </p:nvSpPr>
        <p:spPr>
          <a:xfrm>
            <a:off x="4114614" y="2561258"/>
            <a:ext cx="343049" cy="14288"/>
          </a:xfrm>
          <a:prstGeom prst="roundRect">
            <a:avLst>
              <a:gd fmla="val 33615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443375" y="2439814"/>
            <a:ext cx="257249" cy="257249"/>
          </a:xfrm>
          <a:prstGeom prst="roundRect">
            <a:avLst>
              <a:gd fmla="val 1867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486201" y="2461208"/>
            <a:ext cx="171524" cy="21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135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2570857" y="2479104"/>
            <a:ext cx="1429420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Crie seu Dashboard</a:t>
            </a:r>
            <a:endParaRPr b="0" i="0" sz="110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457349" y="2721025"/>
            <a:ext cx="3542928" cy="532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Combine múltiplos gráficos em uma única figura com </a:t>
            </a:r>
            <a:r>
              <a:rPr b="0" i="0" lang="en-US" sz="9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plt.subplots(nrows, ncols)</a:t>
            </a: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para criar um painel completo de análise multi-ativo.</a:t>
            </a:r>
            <a:endParaRPr b="0" i="0" sz="900" u="none" cap="none" strike="noStrike"/>
          </a:p>
        </p:txBody>
      </p:sp>
      <p:sp>
        <p:nvSpPr>
          <p:cNvPr id="237" name="Google Shape;237;p10"/>
          <p:cNvSpPr/>
          <p:nvPr/>
        </p:nvSpPr>
        <p:spPr>
          <a:xfrm>
            <a:off x="4686337" y="3143696"/>
            <a:ext cx="343049" cy="14288"/>
          </a:xfrm>
          <a:prstGeom prst="roundRect">
            <a:avLst>
              <a:gd fmla="val 33615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4443375" y="3022253"/>
            <a:ext cx="257249" cy="257249"/>
          </a:xfrm>
          <a:prstGeom prst="roundRect">
            <a:avLst>
              <a:gd fmla="val 1867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4486201" y="3043647"/>
            <a:ext cx="171524" cy="21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1350" u="none" cap="none" strike="noStrike"/>
          </a:p>
        </p:txBody>
      </p:sp>
      <p:sp>
        <p:nvSpPr>
          <p:cNvPr id="240" name="Google Shape;240;p10"/>
          <p:cNvSpPr/>
          <p:nvPr/>
        </p:nvSpPr>
        <p:spPr>
          <a:xfrm>
            <a:off x="5143723" y="3061543"/>
            <a:ext cx="1617985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Compartilhe e Contribua</a:t>
            </a:r>
            <a:endParaRPr b="0" i="0" sz="1100" u="none" cap="none" strike="noStrike"/>
          </a:p>
        </p:txBody>
      </p:sp>
      <p:sp>
        <p:nvSpPr>
          <p:cNvPr id="241" name="Google Shape;241;p10"/>
          <p:cNvSpPr/>
          <p:nvPr/>
        </p:nvSpPr>
        <p:spPr>
          <a:xfrm>
            <a:off x="5143723" y="3303463"/>
            <a:ext cx="3542928" cy="5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Publique seu projeto no GitHub, contribua com a comunidade e transforme sua análise de mercado em uma história visual clara e impactante.</a:t>
            </a:r>
            <a:endParaRPr b="0" i="0" sz="900" u="none" cap="none" strike="noStrike"/>
          </a:p>
        </p:txBody>
      </p:sp>
      <p:sp>
        <p:nvSpPr>
          <p:cNvPr id="242" name="Google Shape;242;p10"/>
          <p:cNvSpPr/>
          <p:nvPr/>
        </p:nvSpPr>
        <p:spPr>
          <a:xfrm>
            <a:off x="457349" y="4094857"/>
            <a:ext cx="8229302" cy="603349"/>
          </a:xfrm>
          <a:prstGeom prst="roundRect">
            <a:avLst>
              <a:gd fmla="val 7960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649" y="425202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828824" y="4218310"/>
            <a:ext cx="7743527" cy="356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🚀</a:t>
            </a:r>
            <a:r>
              <a:rPr b="1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Comece hoje:</a:t>
            </a: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Clone o repositório </a:t>
            </a:r>
            <a:r>
              <a:rPr b="0" i="0" lang="en-US" sz="9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tarsislimadev/fatec-lp2-matplotlib</a:t>
            </a:r>
            <a:r>
              <a:rPr b="0" i="0" lang="en-U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no GitHub, execute o exemplo e comece a modificar os parâmetros para entender cada componente na prática.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2026-06-07T14:29:01Z</dcterms:created>
</cp:coreProperties>
</file>